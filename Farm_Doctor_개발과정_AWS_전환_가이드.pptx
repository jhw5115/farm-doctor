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7C82F-F42E-4655-8527-5631F303A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053998-87F0-4BA1-B1C3-C6B00A62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FC9859-408C-4052-9F3F-AF1542AE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6CCF-1ADE-4B2A-BD30-50BBE12BB045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C1CD0F-BF5E-4359-A090-738CA6FE5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F66131-0E6C-47E8-8FBF-D2F9C235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FA-73A0-46CC-9B93-24CC6DD6E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070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B4F1A-9B27-4BDB-90DA-CBCB0F098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CBB491-EC15-41DE-86EA-56EBF0A0B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E7EEF7-3A1F-444C-9A89-0FD84564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6CCF-1ADE-4B2A-BD30-50BBE12BB045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79D774-81A5-406A-868F-23661AE5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2B1733-6083-4EE7-90E8-5F6B3FE3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FA-73A0-46CC-9B93-24CC6DD6E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331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7ACDFF-7F75-4E42-9359-FAC4F3DD2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85F560-DF69-477A-9376-D4B3B1737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C8C039-1B59-4D52-B51D-094855AEF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6CCF-1ADE-4B2A-BD30-50BBE12BB045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51B4BB-F471-4297-A602-1CD02A13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B82E09-13B0-4457-A884-10CF95BC2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FA-73A0-46CC-9B93-24CC6DD6E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598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B900F5-802C-4517-8DC0-CC2E08EC2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5C7D11-73F3-4322-872D-E67DB659C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4070722-8A28-4B58-976F-A67DA6D69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56E0B0-CF53-4BF9-86BC-18839AB75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6CCF-1ADE-4B2A-BD30-50BBE12BB045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52DEF8-624F-40A6-88D0-8EAB56F96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D23C72-94EE-4C3C-80C3-7C721479A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FA-73A0-46CC-9B93-24CC6DD6E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02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076340-271A-418B-A139-1038A4680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49D6DB-1075-4312-BC4F-6996B2CD5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0ABB39-E786-44C0-A029-10A0845B9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17C5E1-26B3-428C-8519-F02BDA7BD0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2D2E28-712A-451D-A76B-6A48A8CDD4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20D028E-21FD-4C5C-9E9F-B6A82A72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6CCF-1ADE-4B2A-BD30-50BBE12BB045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DCD7C8-6EF4-4467-9347-2008462E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E6E239-F180-499F-A503-0162A9651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FA-73A0-46CC-9B93-24CC6DD6E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328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0EC02-B0E2-4E2D-AE15-6BEF5F77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FA42C4F-1DBB-4636-AE48-C8782646F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6CCF-1ADE-4B2A-BD30-50BBE12BB045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024013-C652-4B03-8B79-CF844AD2E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B6C584-6D22-49CC-90EB-F614CA58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FA-73A0-46CC-9B93-24CC6DD6E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55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B3430A8-93FF-4A8E-9FC0-DDA658633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6CCF-1ADE-4B2A-BD30-50BBE12BB045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BE5FF0-6966-4CEA-9DE0-BA9F92AF2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D9BE9A-D95A-4F88-B485-4CE35C61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FA-73A0-46CC-9B93-24CC6DD6E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988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277E0F-CC92-4201-B6E4-197894814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8220D6-5D9C-48F2-B184-70BB11BC4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87A236-B699-4D7B-88AE-95B73A225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48B464-42EB-4287-8008-8E739F12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6CCF-1ADE-4B2A-BD30-50BBE12BB045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514BFB-9268-40B3-90C9-6EA9F884E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1DC2AA-450D-40C9-AB38-162F137A3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FA-73A0-46CC-9B93-24CC6DD6E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714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0A3CE-CDEA-4B3C-BC92-93752FC2F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675E27D-3074-471F-8E3C-97E029C1F3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07C1BE-C011-44A1-97CE-FC5140DF4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2E4D99-8570-410D-AE57-FB726A26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6CCF-1ADE-4B2A-BD30-50BBE12BB045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859F85-ECC2-4418-80AD-0B97BD14C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B71EE7-2AD7-4021-A147-B39DE722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FA-73A0-46CC-9B93-24CC6DD6E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786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6642DE-227C-4DA5-A3A5-0DE105A01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4DFF6E-8D58-4E24-9421-5953B4BD4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F58DB4-8D31-4CA6-AD86-737DBE14F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6CCF-1ADE-4B2A-BD30-50BBE12BB045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DD74F-80E8-47A8-9975-1AA21678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4D1CBC-F672-4082-B02D-44D6B459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FA-73A0-46CC-9B93-24CC6DD6E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81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961B84D-1632-46D3-802D-144316979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7A2133-C37A-4522-9F1B-11800B322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F3526-3397-4D16-8C56-83B4DD42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66CCF-1ADE-4B2A-BD30-50BBE12BB045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73BDFE-62EC-445E-B935-439B8136F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DDB3A0-44DE-4780-A0DA-E4936F4B2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3ACFA-73A0-46CC-9B93-24CC6DD6E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196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72585BF-6F6B-427E-B3CE-AF7A78E03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00466B-2621-467D-B50C-1861D04B9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7AC202-0E4A-415F-BBA8-84946A3881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66CCF-1ADE-4B2A-BD30-50BBE12BB045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8B23A6-4AD9-4EA4-85CC-3BB6FB7E10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7CD329-6177-4C3E-A8B0-EF1A44000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3ACFA-73A0-46CC-9B93-24CC6DD6EF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7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C67DF352-D1D1-477C-94F8-C1F952C1A109}"/>
              </a:ext>
            </a:extLst>
          </p:cNvPr>
          <p:cNvSpPr/>
          <p:nvPr/>
        </p:nvSpPr>
        <p:spPr>
          <a:xfrm>
            <a:off x="609600" y="698500"/>
            <a:ext cx="1320800" cy="1320800"/>
          </a:xfrm>
          <a:prstGeom prst="ellipse">
            <a:avLst/>
          </a:prstGeom>
          <a:solidFill>
            <a:srgbClr val="40D7A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79529-8BD7-45D2-91B6-E2E713AB07C9}"/>
              </a:ext>
            </a:extLst>
          </p:cNvPr>
          <p:cNvSpPr txBox="1"/>
          <p:nvPr/>
        </p:nvSpPr>
        <p:spPr>
          <a:xfrm>
            <a:off x="965200" y="965200"/>
            <a:ext cx="660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200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1398EB-5295-4380-A617-F3F474838ECC}"/>
              </a:ext>
            </a:extLst>
          </p:cNvPr>
          <p:cNvSpPr txBox="1"/>
          <p:nvPr/>
        </p:nvSpPr>
        <p:spPr>
          <a:xfrm>
            <a:off x="609600" y="2413000"/>
            <a:ext cx="10160000" cy="5693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31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Farm Doctor </a:t>
            </a:r>
            <a:r>
              <a:rPr lang="ko-KR" altLang="en-US" sz="31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개발 과정과 </a:t>
            </a:r>
            <a:r>
              <a:rPr lang="en-US" altLang="ko-KR" sz="31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AWS </a:t>
            </a:r>
            <a:r>
              <a:rPr lang="ko-KR" altLang="en-US" sz="31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전환 가이드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E33D49-A09D-4907-82A3-7E53F06D28C3}"/>
              </a:ext>
            </a:extLst>
          </p:cNvPr>
          <p:cNvSpPr txBox="1"/>
          <p:nvPr/>
        </p:nvSpPr>
        <p:spPr>
          <a:xfrm>
            <a:off x="635000" y="3225800"/>
            <a:ext cx="9906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5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사과 과수화상병 </a:t>
            </a:r>
            <a:r>
              <a:rPr lang="en-US" altLang="ko-KR" sz="15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AI </a:t>
            </a:r>
            <a:r>
              <a:rPr lang="ko-KR" altLang="en-US" sz="15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판별 웹서비스 </a:t>
            </a:r>
            <a:r>
              <a:rPr lang="en-US" altLang="ko-KR" sz="15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· </a:t>
            </a:r>
            <a:r>
              <a:rPr lang="ko-KR" altLang="en-US" sz="15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현재 구현 현황</a:t>
            </a:r>
            <a:r>
              <a:rPr lang="en-US" altLang="ko-KR" sz="15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운영 전환</a:t>
            </a:r>
            <a:r>
              <a:rPr lang="en-US" altLang="ko-KR" sz="15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, Codex </a:t>
            </a:r>
            <a:r>
              <a:rPr lang="ko-KR" altLang="en-US" sz="15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협업 원칙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AE30D-5AA6-4F69-A14D-AAAF70B9B359}"/>
              </a:ext>
            </a:extLst>
          </p:cNvPr>
          <p:cNvSpPr txBox="1"/>
          <p:nvPr/>
        </p:nvSpPr>
        <p:spPr>
          <a:xfrm>
            <a:off x="635000" y="5969000"/>
            <a:ext cx="508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2026.10 · </a:t>
            </a:r>
            <a:r>
              <a:rPr lang="ko-KR" altLang="en-US" sz="11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개발 학습용 자료</a:t>
            </a:r>
          </a:p>
        </p:txBody>
      </p:sp>
    </p:spTree>
    <p:extLst>
      <p:ext uri="{BB962C8B-B14F-4D97-AF65-F5344CB8AC3E}">
        <p14:creationId xmlns:p14="http://schemas.microsoft.com/office/powerpoint/2010/main" val="3734568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1C5672-1DE7-42DF-96CA-2D6929FD5DC6}"/>
              </a:ext>
            </a:extLst>
          </p:cNvPr>
          <p:cNvSpPr txBox="1"/>
          <p:nvPr/>
        </p:nvSpPr>
        <p:spPr>
          <a:xfrm>
            <a:off x="533400" y="355600"/>
            <a:ext cx="10795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1. </a:t>
            </a:r>
            <a:r>
              <a:rPr lang="ko-KR" altLang="en-US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프로젝트 목표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79345-6517-4BCA-AF1C-6FDF504C2AA2}"/>
              </a:ext>
            </a:extLst>
          </p:cNvPr>
          <p:cNvSpPr txBox="1"/>
          <p:nvPr/>
        </p:nvSpPr>
        <p:spPr>
          <a:xfrm>
            <a:off x="558800" y="914400"/>
            <a:ext cx="1079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농가 사용자가 사진을 업로드해 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AI </a:t>
            </a:r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참고용 판별과 검사 이력을 확인하는 서비스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B4C40FB-C4B1-4B61-9161-6E0BA6E4366C}"/>
              </a:ext>
            </a:extLst>
          </p:cNvPr>
          <p:cNvSpPr/>
          <p:nvPr/>
        </p:nvSpPr>
        <p:spPr>
          <a:xfrm>
            <a:off x="5334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D2ECDE-6D84-4958-A0F8-6E2E84D6BE4E}"/>
              </a:ext>
            </a:extLst>
          </p:cNvPr>
          <p:cNvSpPr/>
          <p:nvPr/>
        </p:nvSpPr>
        <p:spPr>
          <a:xfrm>
            <a:off x="533400" y="1498600"/>
            <a:ext cx="88900" cy="2133600"/>
          </a:xfrm>
          <a:prstGeom prst="rect">
            <a:avLst/>
          </a:prstGeom>
          <a:solidFill>
            <a:srgbClr val="73836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3E2B02-E52E-413F-B187-E4E9B93BD384}"/>
              </a:ext>
            </a:extLst>
          </p:cNvPr>
          <p:cNvSpPr txBox="1"/>
          <p:nvPr/>
        </p:nvSpPr>
        <p:spPr>
          <a:xfrm>
            <a:off x="7620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대상 범위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922E5-47D3-4D60-A597-1C7DFA75FCA7}"/>
              </a:ext>
            </a:extLst>
          </p:cNvPr>
          <p:cNvSpPr txBox="1"/>
          <p:nvPr/>
        </p:nvSpPr>
        <p:spPr>
          <a:xfrm>
            <a:off x="7620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사과 정상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/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사과 과수화상병 의심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2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개 클래스만 사용합니다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. AI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결과는 확진이 아닙니다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66666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CB506D4-9674-4980-97ED-E3BB7A0A97AE}"/>
              </a:ext>
            </a:extLst>
          </p:cNvPr>
          <p:cNvSpPr/>
          <p:nvPr/>
        </p:nvSpPr>
        <p:spPr>
          <a:xfrm>
            <a:off x="40640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53356F-22A5-4C9E-A2B9-1F8AED39DED4}"/>
              </a:ext>
            </a:extLst>
          </p:cNvPr>
          <p:cNvSpPr/>
          <p:nvPr/>
        </p:nvSpPr>
        <p:spPr>
          <a:xfrm>
            <a:off x="4064000" y="1498600"/>
            <a:ext cx="88900" cy="2133600"/>
          </a:xfrm>
          <a:prstGeom prst="rect">
            <a:avLst/>
          </a:prstGeom>
          <a:solidFill>
            <a:srgbClr val="4F8C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55206D-4877-41AE-A0ED-F282E89E54CF}"/>
              </a:ext>
            </a:extLst>
          </p:cNvPr>
          <p:cNvSpPr txBox="1"/>
          <p:nvPr/>
        </p:nvSpPr>
        <p:spPr>
          <a:xfrm>
            <a:off x="42926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핵심 사용자 경험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70C91B-3E0A-4010-841D-CAE6B5B84CAE}"/>
              </a:ext>
            </a:extLst>
          </p:cNvPr>
          <p:cNvSpPr txBox="1"/>
          <p:nvPr/>
        </p:nvSpPr>
        <p:spPr>
          <a:xfrm>
            <a:off x="42926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사진 업로드 →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YOLO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분석 →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MySQL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기록 저장 → 갤러리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리포트 확인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2EC515B-F4EF-4666-A572-9234BDF3F828}"/>
              </a:ext>
            </a:extLst>
          </p:cNvPr>
          <p:cNvSpPr/>
          <p:nvPr/>
        </p:nvSpPr>
        <p:spPr>
          <a:xfrm>
            <a:off x="75946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1FA7CD4-2D5A-4F1A-8D1A-400A4F4F2E26}"/>
              </a:ext>
            </a:extLst>
          </p:cNvPr>
          <p:cNvSpPr/>
          <p:nvPr/>
        </p:nvSpPr>
        <p:spPr>
          <a:xfrm>
            <a:off x="7594600" y="1498600"/>
            <a:ext cx="88900" cy="2133600"/>
          </a:xfrm>
          <a:prstGeom prst="rect">
            <a:avLst/>
          </a:prstGeom>
          <a:solidFill>
            <a:srgbClr val="5966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C7F41F-A950-4ED9-8F2E-B3FC85CDEB50}"/>
              </a:ext>
            </a:extLst>
          </p:cNvPr>
          <p:cNvSpPr txBox="1"/>
          <p:nvPr/>
        </p:nvSpPr>
        <p:spPr>
          <a:xfrm>
            <a:off x="78232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운영 원칙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7376C-128D-4127-AFE5-7D5DD2DD5C80}"/>
              </a:ext>
            </a:extLst>
          </p:cNvPr>
          <p:cNvSpPr txBox="1"/>
          <p:nvPr/>
        </p:nvSpPr>
        <p:spPr>
          <a:xfrm>
            <a:off x="78232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실제 데이터만 표시하고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모델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·DB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미연동 시 임의 결과를 만들지 않습니다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66666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D91361-4691-49AE-8821-F86082C25C4A}"/>
              </a:ext>
            </a:extLst>
          </p:cNvPr>
          <p:cNvSpPr txBox="1"/>
          <p:nvPr/>
        </p:nvSpPr>
        <p:spPr>
          <a:xfrm>
            <a:off x="533400" y="6350000"/>
            <a:ext cx="635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Farm Doctor ·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사과 과수화상병 </a:t>
            </a:r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AI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판별 웹서비스</a:t>
            </a:r>
          </a:p>
        </p:txBody>
      </p:sp>
    </p:spTree>
    <p:extLst>
      <p:ext uri="{BB962C8B-B14F-4D97-AF65-F5344CB8AC3E}">
        <p14:creationId xmlns:p14="http://schemas.microsoft.com/office/powerpoint/2010/main" val="2994875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02437B-7823-4100-A8D2-A0D377B436D4}"/>
              </a:ext>
            </a:extLst>
          </p:cNvPr>
          <p:cNvSpPr txBox="1"/>
          <p:nvPr/>
        </p:nvSpPr>
        <p:spPr>
          <a:xfrm>
            <a:off x="533400" y="355600"/>
            <a:ext cx="10795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2. </a:t>
            </a:r>
            <a:r>
              <a:rPr lang="ko-KR" altLang="en-US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현재 아키텍처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8154B8-A323-4E6E-B295-8BB508C35037}"/>
              </a:ext>
            </a:extLst>
          </p:cNvPr>
          <p:cNvSpPr txBox="1"/>
          <p:nvPr/>
        </p:nvSpPr>
        <p:spPr>
          <a:xfrm>
            <a:off x="558800" y="914400"/>
            <a:ext cx="1079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로컬 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Docker Compose</a:t>
            </a:r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에서 프런트엔드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백엔드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·MySQL</a:t>
            </a:r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을 통합 실행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D196DCE-E453-4939-BC26-0A7B4B240EE1}"/>
              </a:ext>
            </a:extLst>
          </p:cNvPr>
          <p:cNvSpPr/>
          <p:nvPr/>
        </p:nvSpPr>
        <p:spPr>
          <a:xfrm>
            <a:off x="533400" y="1498600"/>
            <a:ext cx="5080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0B1B4F-4E88-4069-85F0-D6C45708CE75}"/>
              </a:ext>
            </a:extLst>
          </p:cNvPr>
          <p:cNvSpPr/>
          <p:nvPr/>
        </p:nvSpPr>
        <p:spPr>
          <a:xfrm>
            <a:off x="533400" y="1498600"/>
            <a:ext cx="88900" cy="2133600"/>
          </a:xfrm>
          <a:prstGeom prst="rect">
            <a:avLst/>
          </a:prstGeom>
          <a:solidFill>
            <a:srgbClr val="73836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1095B8-E7DB-4502-8B1B-F87610C5D9F0}"/>
              </a:ext>
            </a:extLst>
          </p:cNvPr>
          <p:cNvSpPr txBox="1"/>
          <p:nvPr/>
        </p:nvSpPr>
        <p:spPr>
          <a:xfrm>
            <a:off x="762000" y="1676400"/>
            <a:ext cx="4699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React + TypeScript</a:t>
            </a:r>
            <a:endParaRPr lang="ko-KR" altLang="en-US" sz="1700" b="1">
              <a:solidFill>
                <a:srgbClr val="5B434A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40C506-BB4E-449A-BD46-1E93F67B6DF6}"/>
              </a:ext>
            </a:extLst>
          </p:cNvPr>
          <p:cNvSpPr txBox="1"/>
          <p:nvPr/>
        </p:nvSpPr>
        <p:spPr>
          <a:xfrm>
            <a:off x="762000" y="21082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Farm Doctor UI,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업로드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갤러리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리포트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안내 페이지를 제공합니다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66666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C667BB4-2050-4D16-8AAA-CD383475877E}"/>
              </a:ext>
            </a:extLst>
          </p:cNvPr>
          <p:cNvSpPr/>
          <p:nvPr/>
        </p:nvSpPr>
        <p:spPr>
          <a:xfrm>
            <a:off x="5842000" y="1498600"/>
            <a:ext cx="5080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037B2F-5D54-4917-9521-4D30A8DFF57D}"/>
              </a:ext>
            </a:extLst>
          </p:cNvPr>
          <p:cNvSpPr/>
          <p:nvPr/>
        </p:nvSpPr>
        <p:spPr>
          <a:xfrm>
            <a:off x="5842000" y="1498600"/>
            <a:ext cx="88900" cy="2133600"/>
          </a:xfrm>
          <a:prstGeom prst="rect">
            <a:avLst/>
          </a:prstGeom>
          <a:solidFill>
            <a:srgbClr val="4F8C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B442BB-5B78-4090-A85B-54706F35C689}"/>
              </a:ext>
            </a:extLst>
          </p:cNvPr>
          <p:cNvSpPr txBox="1"/>
          <p:nvPr/>
        </p:nvSpPr>
        <p:spPr>
          <a:xfrm>
            <a:off x="6070600" y="1676400"/>
            <a:ext cx="4699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FastAPI + YOLO Detect</a:t>
            </a:r>
            <a:endParaRPr lang="ko-KR" altLang="en-US" sz="1700" b="1">
              <a:solidFill>
                <a:srgbClr val="5B434A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2756AB-FF6F-48AA-AC60-9A249CED97B2}"/>
              </a:ext>
            </a:extLst>
          </p:cNvPr>
          <p:cNvSpPr txBox="1"/>
          <p:nvPr/>
        </p:nvSpPr>
        <p:spPr>
          <a:xfrm>
            <a:off x="6070600" y="21082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best.pt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모델을 불러와 객체 탐지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·confidence·bounding box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를 처리합니다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66666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26F6154-2EBB-4BE2-9C0E-9763200D5D1B}"/>
              </a:ext>
            </a:extLst>
          </p:cNvPr>
          <p:cNvSpPr/>
          <p:nvPr/>
        </p:nvSpPr>
        <p:spPr>
          <a:xfrm>
            <a:off x="533400" y="3911600"/>
            <a:ext cx="5080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F0861B1-C478-4CC7-8D6B-494455A94819}"/>
              </a:ext>
            </a:extLst>
          </p:cNvPr>
          <p:cNvSpPr/>
          <p:nvPr/>
        </p:nvSpPr>
        <p:spPr>
          <a:xfrm>
            <a:off x="533400" y="3911600"/>
            <a:ext cx="88900" cy="2133600"/>
          </a:xfrm>
          <a:prstGeom prst="rect">
            <a:avLst/>
          </a:prstGeom>
          <a:solidFill>
            <a:srgbClr val="5966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5BD7F8-2627-4C38-B94B-8D2364D80628}"/>
              </a:ext>
            </a:extLst>
          </p:cNvPr>
          <p:cNvSpPr txBox="1"/>
          <p:nvPr/>
        </p:nvSpPr>
        <p:spPr>
          <a:xfrm>
            <a:off x="762000" y="4089400"/>
            <a:ext cx="4699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MySQL + Alembic</a:t>
            </a:r>
            <a:endParaRPr lang="ko-KR" altLang="en-US" sz="1700" b="1">
              <a:solidFill>
                <a:srgbClr val="5B434A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BA5FC6-7196-4C21-803F-DFB0255365DA}"/>
              </a:ext>
            </a:extLst>
          </p:cNvPr>
          <p:cNvSpPr txBox="1"/>
          <p:nvPr/>
        </p:nvSpPr>
        <p:spPr>
          <a:xfrm>
            <a:off x="762000" y="45212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검사 배치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이미지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예측값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리포트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챗봇 기반 데이터를 관리합니다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66666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498588D-5F31-403A-8881-F400493CCE4B}"/>
              </a:ext>
            </a:extLst>
          </p:cNvPr>
          <p:cNvSpPr/>
          <p:nvPr/>
        </p:nvSpPr>
        <p:spPr>
          <a:xfrm>
            <a:off x="5842000" y="3911600"/>
            <a:ext cx="5080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A991A92-4FCC-4187-A3E5-2391953ED054}"/>
              </a:ext>
            </a:extLst>
          </p:cNvPr>
          <p:cNvSpPr/>
          <p:nvPr/>
        </p:nvSpPr>
        <p:spPr>
          <a:xfrm>
            <a:off x="5842000" y="3911600"/>
            <a:ext cx="88900" cy="2133600"/>
          </a:xfrm>
          <a:prstGeom prst="rect">
            <a:avLst/>
          </a:prstGeom>
          <a:solidFill>
            <a:srgbClr val="73836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1C69DA-4A52-4502-89E5-8FB2DB75C351}"/>
              </a:ext>
            </a:extLst>
          </p:cNvPr>
          <p:cNvSpPr txBox="1"/>
          <p:nvPr/>
        </p:nvSpPr>
        <p:spPr>
          <a:xfrm>
            <a:off x="6070600" y="4089400"/>
            <a:ext cx="4699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파일 저장 구조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4AF544-71AE-4D6C-B536-267BC6A175EA}"/>
              </a:ext>
            </a:extLst>
          </p:cNvPr>
          <p:cNvSpPr txBox="1"/>
          <p:nvPr/>
        </p:nvSpPr>
        <p:spPr>
          <a:xfrm>
            <a:off x="6070600" y="45212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로컬 볼륨을 기본으로 사용하며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AWS S3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전환 환경변수를 준비했습니다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66666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E40BEE-F759-47DE-8A76-DB75FEC01E4E}"/>
              </a:ext>
            </a:extLst>
          </p:cNvPr>
          <p:cNvSpPr txBox="1"/>
          <p:nvPr/>
        </p:nvSpPr>
        <p:spPr>
          <a:xfrm>
            <a:off x="533400" y="6350000"/>
            <a:ext cx="635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Farm Doctor ·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사과 과수화상병 </a:t>
            </a:r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AI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판별 웹서비스</a:t>
            </a:r>
          </a:p>
        </p:txBody>
      </p:sp>
    </p:spTree>
    <p:extLst>
      <p:ext uri="{BB962C8B-B14F-4D97-AF65-F5344CB8AC3E}">
        <p14:creationId xmlns:p14="http://schemas.microsoft.com/office/powerpoint/2010/main" val="1991045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BF2FD7-4F69-4A00-BB9C-9D8E8771B4D1}"/>
              </a:ext>
            </a:extLst>
          </p:cNvPr>
          <p:cNvSpPr txBox="1"/>
          <p:nvPr/>
        </p:nvSpPr>
        <p:spPr>
          <a:xfrm>
            <a:off x="533400" y="355600"/>
            <a:ext cx="10795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3. Phase 1~5 </a:t>
            </a:r>
            <a:r>
              <a:rPr lang="ko-KR" altLang="en-US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개발 흐름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540D3-F1C4-46C3-ABDF-1C8CB52E199E}"/>
              </a:ext>
            </a:extLst>
          </p:cNvPr>
          <p:cNvSpPr txBox="1"/>
          <p:nvPr/>
        </p:nvSpPr>
        <p:spPr>
          <a:xfrm>
            <a:off x="558800" y="914400"/>
            <a:ext cx="1079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기능을 단계별로 구축하고 실제 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API</a:t>
            </a:r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와 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DB </a:t>
            </a:r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검증을 우선했습니다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787878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D43E78-E446-4511-91F2-8CA51DCA2EC7}"/>
              </a:ext>
            </a:extLst>
          </p:cNvPr>
          <p:cNvSpPr/>
          <p:nvPr/>
        </p:nvSpPr>
        <p:spPr>
          <a:xfrm>
            <a:off x="5334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886F90-444F-4F80-80BF-EEE85022BA7C}"/>
              </a:ext>
            </a:extLst>
          </p:cNvPr>
          <p:cNvSpPr/>
          <p:nvPr/>
        </p:nvSpPr>
        <p:spPr>
          <a:xfrm>
            <a:off x="533400" y="1498600"/>
            <a:ext cx="88900" cy="2133600"/>
          </a:xfrm>
          <a:prstGeom prst="rect">
            <a:avLst/>
          </a:prstGeom>
          <a:solidFill>
            <a:srgbClr val="73836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3CFB8-A531-4B1C-BA9F-A23E2350261E}"/>
              </a:ext>
            </a:extLst>
          </p:cNvPr>
          <p:cNvSpPr txBox="1"/>
          <p:nvPr/>
        </p:nvSpPr>
        <p:spPr>
          <a:xfrm>
            <a:off x="7620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Phase 1·2</a:t>
            </a:r>
            <a:endParaRPr lang="ko-KR" altLang="en-US" sz="1700" b="1">
              <a:solidFill>
                <a:srgbClr val="5B434A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3ADC41-3B0A-4342-80E5-645FA59BF870}"/>
              </a:ext>
            </a:extLst>
          </p:cNvPr>
          <p:cNvSpPr txBox="1"/>
          <p:nvPr/>
        </p:nvSpPr>
        <p:spPr>
          <a:xfrm>
            <a:off x="7620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React/FastAPI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실행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MySQL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연결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Alembic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테이블 생성과 저장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조회 검증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61BE1A0-5909-4B2B-B8ED-93120059141A}"/>
              </a:ext>
            </a:extLst>
          </p:cNvPr>
          <p:cNvSpPr/>
          <p:nvPr/>
        </p:nvSpPr>
        <p:spPr>
          <a:xfrm>
            <a:off x="40640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0CCF1A-30D9-41E4-9E29-6A554B9F816F}"/>
              </a:ext>
            </a:extLst>
          </p:cNvPr>
          <p:cNvSpPr/>
          <p:nvPr/>
        </p:nvSpPr>
        <p:spPr>
          <a:xfrm>
            <a:off x="4064000" y="1498600"/>
            <a:ext cx="88900" cy="2133600"/>
          </a:xfrm>
          <a:prstGeom prst="rect">
            <a:avLst/>
          </a:prstGeom>
          <a:solidFill>
            <a:srgbClr val="4F8C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4491A3-BA9F-4B97-99FF-94C18A760BFB}"/>
              </a:ext>
            </a:extLst>
          </p:cNvPr>
          <p:cNvSpPr txBox="1"/>
          <p:nvPr/>
        </p:nvSpPr>
        <p:spPr>
          <a:xfrm>
            <a:off x="42926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Phase 3·4</a:t>
            </a:r>
            <a:endParaRPr lang="ko-KR" altLang="en-US" sz="1700" b="1">
              <a:solidFill>
                <a:srgbClr val="5B434A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30FD2D-19E6-42DD-97B9-E99C2DE69455}"/>
              </a:ext>
            </a:extLst>
          </p:cNvPr>
          <p:cNvSpPr txBox="1"/>
          <p:nvPr/>
        </p:nvSpPr>
        <p:spPr>
          <a:xfrm>
            <a:off x="42926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다중 이미지 업로드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파일 저장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YOLO Detect best.pt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실제 클래스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추론 검증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535D12F-65FD-417B-BDAF-000F33D2B1B4}"/>
              </a:ext>
            </a:extLst>
          </p:cNvPr>
          <p:cNvSpPr/>
          <p:nvPr/>
        </p:nvSpPr>
        <p:spPr>
          <a:xfrm>
            <a:off x="75946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0194805-AD09-4120-A474-B7BAE71F875C}"/>
              </a:ext>
            </a:extLst>
          </p:cNvPr>
          <p:cNvSpPr/>
          <p:nvPr/>
        </p:nvSpPr>
        <p:spPr>
          <a:xfrm>
            <a:off x="7594600" y="1498600"/>
            <a:ext cx="88900" cy="2133600"/>
          </a:xfrm>
          <a:prstGeom prst="rect">
            <a:avLst/>
          </a:prstGeom>
          <a:solidFill>
            <a:srgbClr val="5966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83BE5E-C0FD-49FD-A800-BD4F8D9A3F0F}"/>
              </a:ext>
            </a:extLst>
          </p:cNvPr>
          <p:cNvSpPr txBox="1"/>
          <p:nvPr/>
        </p:nvSpPr>
        <p:spPr>
          <a:xfrm>
            <a:off x="78232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Phase 5</a:t>
            </a:r>
            <a:endParaRPr lang="ko-KR" altLang="en-US" sz="1700" b="1">
              <a:solidFill>
                <a:srgbClr val="5B434A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8BBAD2-F924-4644-A12A-B562892520C6}"/>
              </a:ext>
            </a:extLst>
          </p:cNvPr>
          <p:cNvSpPr txBox="1"/>
          <p:nvPr/>
        </p:nvSpPr>
        <p:spPr>
          <a:xfrm>
            <a:off x="78232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통계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갤러리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탐지 상세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PDF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보고서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오류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빈 상태 처리 개선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F32403-0FB6-4B60-8959-D4EDC8F20A82}"/>
              </a:ext>
            </a:extLst>
          </p:cNvPr>
          <p:cNvSpPr txBox="1"/>
          <p:nvPr/>
        </p:nvSpPr>
        <p:spPr>
          <a:xfrm>
            <a:off x="533400" y="6350000"/>
            <a:ext cx="635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Farm Doctor ·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사과 과수화상병 </a:t>
            </a:r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AI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판별 웹서비스</a:t>
            </a:r>
          </a:p>
        </p:txBody>
      </p:sp>
    </p:spTree>
    <p:extLst>
      <p:ext uri="{BB962C8B-B14F-4D97-AF65-F5344CB8AC3E}">
        <p14:creationId xmlns:p14="http://schemas.microsoft.com/office/powerpoint/2010/main" val="1585800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050015-60C6-4150-BC81-2A8657412E36}"/>
              </a:ext>
            </a:extLst>
          </p:cNvPr>
          <p:cNvSpPr txBox="1"/>
          <p:nvPr/>
        </p:nvSpPr>
        <p:spPr>
          <a:xfrm>
            <a:off x="533400" y="355600"/>
            <a:ext cx="10795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4. </a:t>
            </a:r>
            <a:r>
              <a:rPr lang="ko-KR" altLang="en-US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데이터와 </a:t>
            </a:r>
            <a:r>
              <a:rPr lang="en-US" altLang="ko-KR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AI </a:t>
            </a:r>
            <a:r>
              <a:rPr lang="ko-KR" altLang="en-US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판별 흐름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49969F-FB5C-49AB-B691-A5657E8D8DD4}"/>
              </a:ext>
            </a:extLst>
          </p:cNvPr>
          <p:cNvSpPr txBox="1"/>
          <p:nvPr/>
        </p:nvSpPr>
        <p:spPr>
          <a:xfrm>
            <a:off x="558800" y="914400"/>
            <a:ext cx="1079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추론 결과와 원본 이미지는 분리해 저장하며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모델 출력값을 그대로 사용합니다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787878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12DA8CE-903B-47AA-A9BC-D9D12E20F316}"/>
              </a:ext>
            </a:extLst>
          </p:cNvPr>
          <p:cNvSpPr/>
          <p:nvPr/>
        </p:nvSpPr>
        <p:spPr>
          <a:xfrm>
            <a:off x="5334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C18530-5147-4CAF-BA0A-F6990B433E0C}"/>
              </a:ext>
            </a:extLst>
          </p:cNvPr>
          <p:cNvSpPr/>
          <p:nvPr/>
        </p:nvSpPr>
        <p:spPr>
          <a:xfrm>
            <a:off x="533400" y="1498600"/>
            <a:ext cx="88900" cy="2133600"/>
          </a:xfrm>
          <a:prstGeom prst="rect">
            <a:avLst/>
          </a:prstGeom>
          <a:solidFill>
            <a:srgbClr val="73836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FAE29B-473B-445D-9E6E-B9DB9681E15D}"/>
              </a:ext>
            </a:extLst>
          </p:cNvPr>
          <p:cNvSpPr txBox="1"/>
          <p:nvPr/>
        </p:nvSpPr>
        <p:spPr>
          <a:xfrm>
            <a:off x="7620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입력 검증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D932B-00CF-4E7A-85E7-FC8113E6E1D5}"/>
              </a:ext>
            </a:extLst>
          </p:cNvPr>
          <p:cNvSpPr txBox="1"/>
          <p:nvPr/>
        </p:nvSpPr>
        <p:spPr>
          <a:xfrm>
            <a:off x="7620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JPG/JPEG/PNG/WEBP,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파일 크기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개수 제한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다중 업로드 지원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DF7ED42-35A4-4362-A9C3-63258B216375}"/>
              </a:ext>
            </a:extLst>
          </p:cNvPr>
          <p:cNvSpPr/>
          <p:nvPr/>
        </p:nvSpPr>
        <p:spPr>
          <a:xfrm>
            <a:off x="40640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59224A-CEEC-4F21-910A-DD8A7B633FA1}"/>
              </a:ext>
            </a:extLst>
          </p:cNvPr>
          <p:cNvSpPr/>
          <p:nvPr/>
        </p:nvSpPr>
        <p:spPr>
          <a:xfrm>
            <a:off x="4064000" y="1498600"/>
            <a:ext cx="88900" cy="2133600"/>
          </a:xfrm>
          <a:prstGeom prst="rect">
            <a:avLst/>
          </a:prstGeom>
          <a:solidFill>
            <a:srgbClr val="4F8C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D7D1CD-BE6A-437E-B42A-C28C89A5F3AD}"/>
              </a:ext>
            </a:extLst>
          </p:cNvPr>
          <p:cNvSpPr txBox="1"/>
          <p:nvPr/>
        </p:nvSpPr>
        <p:spPr>
          <a:xfrm>
            <a:off x="42926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탐지 결과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2CA61E-5AEE-4AAF-8F73-682D86EC17B5}"/>
              </a:ext>
            </a:extLst>
          </p:cNvPr>
          <p:cNvSpPr txBox="1"/>
          <p:nvPr/>
        </p:nvSpPr>
        <p:spPr>
          <a:xfrm>
            <a:off x="42926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클래스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confidence,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검출 수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실제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bounding box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좌표를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predictions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에 저장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755FD5D-A47C-4B61-9628-3B22265F39CD}"/>
              </a:ext>
            </a:extLst>
          </p:cNvPr>
          <p:cNvSpPr/>
          <p:nvPr/>
        </p:nvSpPr>
        <p:spPr>
          <a:xfrm>
            <a:off x="75946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C50B51-1D72-40BB-95C6-1838E52CB087}"/>
              </a:ext>
            </a:extLst>
          </p:cNvPr>
          <p:cNvSpPr/>
          <p:nvPr/>
        </p:nvSpPr>
        <p:spPr>
          <a:xfrm>
            <a:off x="7594600" y="1498600"/>
            <a:ext cx="88900" cy="2133600"/>
          </a:xfrm>
          <a:prstGeom prst="rect">
            <a:avLst/>
          </a:prstGeom>
          <a:solidFill>
            <a:srgbClr val="5966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191EF7-0212-41A5-B9DD-198F115E5BF7}"/>
              </a:ext>
            </a:extLst>
          </p:cNvPr>
          <p:cNvSpPr txBox="1"/>
          <p:nvPr/>
        </p:nvSpPr>
        <p:spPr>
          <a:xfrm>
            <a:off x="78232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안전 문구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AF5F6E-330D-4A60-B7E1-39C50C70AB86}"/>
              </a:ext>
            </a:extLst>
          </p:cNvPr>
          <p:cNvSpPr txBox="1"/>
          <p:nvPr/>
        </p:nvSpPr>
        <p:spPr>
          <a:xfrm>
            <a:off x="78232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confidence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는 확진 확률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심각도가 아니며 전문 기관 현장 확인이 필요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67EE1B-DC3C-4842-B929-9FD83DFF3BDE}"/>
              </a:ext>
            </a:extLst>
          </p:cNvPr>
          <p:cNvSpPr txBox="1"/>
          <p:nvPr/>
        </p:nvSpPr>
        <p:spPr>
          <a:xfrm>
            <a:off x="533400" y="6350000"/>
            <a:ext cx="635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Farm Doctor ·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사과 과수화상병 </a:t>
            </a:r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AI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판별 웹서비스</a:t>
            </a:r>
          </a:p>
        </p:txBody>
      </p:sp>
    </p:spTree>
    <p:extLst>
      <p:ext uri="{BB962C8B-B14F-4D97-AF65-F5344CB8AC3E}">
        <p14:creationId xmlns:p14="http://schemas.microsoft.com/office/powerpoint/2010/main" val="1912038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B139EB-BE26-4F1C-9ECD-F32B5D1DAA42}"/>
              </a:ext>
            </a:extLst>
          </p:cNvPr>
          <p:cNvSpPr txBox="1"/>
          <p:nvPr/>
        </p:nvSpPr>
        <p:spPr>
          <a:xfrm>
            <a:off x="533400" y="355600"/>
            <a:ext cx="10795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5. </a:t>
            </a:r>
            <a:r>
              <a:rPr lang="ko-KR" altLang="en-US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리포트</a:t>
            </a:r>
            <a:r>
              <a:rPr lang="en-US" altLang="ko-KR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·PDF </a:t>
            </a:r>
            <a:r>
              <a:rPr lang="ko-KR" altLang="en-US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기능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CB4F22-DD72-461D-93E8-5715D687C7E2}"/>
              </a:ext>
            </a:extLst>
          </p:cNvPr>
          <p:cNvSpPr txBox="1"/>
          <p:nvPr/>
        </p:nvSpPr>
        <p:spPr>
          <a:xfrm>
            <a:off x="558800" y="914400"/>
            <a:ext cx="1079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동일한 검색 조건을 화면 통계와 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PDF</a:t>
            </a:r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에 적용합니다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787878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E10B329-6A16-4099-88DD-91ED75370418}"/>
              </a:ext>
            </a:extLst>
          </p:cNvPr>
          <p:cNvSpPr/>
          <p:nvPr/>
        </p:nvSpPr>
        <p:spPr>
          <a:xfrm>
            <a:off x="5334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2A786F-A32E-42B1-B4CE-BE6264E8EF43}"/>
              </a:ext>
            </a:extLst>
          </p:cNvPr>
          <p:cNvSpPr/>
          <p:nvPr/>
        </p:nvSpPr>
        <p:spPr>
          <a:xfrm>
            <a:off x="533400" y="1498600"/>
            <a:ext cx="88900" cy="2133600"/>
          </a:xfrm>
          <a:prstGeom prst="rect">
            <a:avLst/>
          </a:prstGeom>
          <a:solidFill>
            <a:srgbClr val="73836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30564-DC1E-40D9-B3D5-7B94805C98AD}"/>
              </a:ext>
            </a:extLst>
          </p:cNvPr>
          <p:cNvSpPr txBox="1"/>
          <p:nvPr/>
        </p:nvSpPr>
        <p:spPr>
          <a:xfrm>
            <a:off x="7620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조회 조건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000AF-E93C-4BDF-AA67-5CF138A53660}"/>
              </a:ext>
            </a:extLst>
          </p:cNvPr>
          <p:cNvSpPr txBox="1"/>
          <p:nvPr/>
        </p:nvSpPr>
        <p:spPr>
          <a:xfrm>
            <a:off x="7620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기간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결과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요약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/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상세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이미지 포함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의심 사례 상세 출력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51D2E3A-1ACF-497B-8F66-137AC823E9BD}"/>
              </a:ext>
            </a:extLst>
          </p:cNvPr>
          <p:cNvSpPr/>
          <p:nvPr/>
        </p:nvSpPr>
        <p:spPr>
          <a:xfrm>
            <a:off x="40640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EE5172-3127-475D-9937-10BD1FC73EA9}"/>
              </a:ext>
            </a:extLst>
          </p:cNvPr>
          <p:cNvSpPr/>
          <p:nvPr/>
        </p:nvSpPr>
        <p:spPr>
          <a:xfrm>
            <a:off x="4064000" y="1498600"/>
            <a:ext cx="88900" cy="2133600"/>
          </a:xfrm>
          <a:prstGeom prst="rect">
            <a:avLst/>
          </a:prstGeom>
          <a:solidFill>
            <a:srgbClr val="4F8C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451569-CBD7-48D6-A3A2-37C9D67F0FE7}"/>
              </a:ext>
            </a:extLst>
          </p:cNvPr>
          <p:cNvSpPr txBox="1"/>
          <p:nvPr/>
        </p:nvSpPr>
        <p:spPr>
          <a:xfrm>
            <a:off x="42926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화면 리포트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D49ABF-7C41-4383-94C1-14663A66E9FD}"/>
              </a:ext>
            </a:extLst>
          </p:cNvPr>
          <p:cNvSpPr txBox="1"/>
          <p:nvPr/>
        </p:nvSpPr>
        <p:spPr>
          <a:xfrm>
            <a:off x="42926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결과별 통계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비율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기간별 추이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의심 사례 썸네일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빈 상태 안내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7D66E73-9A13-4A3D-9FCD-3A6C8FF65EF0}"/>
              </a:ext>
            </a:extLst>
          </p:cNvPr>
          <p:cNvSpPr/>
          <p:nvPr/>
        </p:nvSpPr>
        <p:spPr>
          <a:xfrm>
            <a:off x="75946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6BC4BB-C9C9-4539-B098-3AAC441D75D0}"/>
              </a:ext>
            </a:extLst>
          </p:cNvPr>
          <p:cNvSpPr/>
          <p:nvPr/>
        </p:nvSpPr>
        <p:spPr>
          <a:xfrm>
            <a:off x="7594600" y="1498600"/>
            <a:ext cx="88900" cy="2133600"/>
          </a:xfrm>
          <a:prstGeom prst="rect">
            <a:avLst/>
          </a:prstGeom>
          <a:solidFill>
            <a:srgbClr val="5966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B15070-2F90-4C39-A4EC-2D251681B4EF}"/>
              </a:ext>
            </a:extLst>
          </p:cNvPr>
          <p:cNvSpPr txBox="1"/>
          <p:nvPr/>
        </p:nvSpPr>
        <p:spPr>
          <a:xfrm>
            <a:off x="78232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PDF </a:t>
            </a:r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출력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3F6A5B-0DF1-463B-B8C0-EA9E9B8431B6}"/>
              </a:ext>
            </a:extLst>
          </p:cNvPr>
          <p:cNvSpPr txBox="1"/>
          <p:nvPr/>
        </p:nvSpPr>
        <p:spPr>
          <a:xfrm>
            <a:off x="78232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기본 요약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추이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상세 기록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선택 이미지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·AI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한계 및 전문기관 안내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B7B76B-BF9D-4C65-AA7A-7C102788297E}"/>
              </a:ext>
            </a:extLst>
          </p:cNvPr>
          <p:cNvSpPr txBox="1"/>
          <p:nvPr/>
        </p:nvSpPr>
        <p:spPr>
          <a:xfrm>
            <a:off x="533400" y="6350000"/>
            <a:ext cx="635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Farm Doctor ·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사과 과수화상병 </a:t>
            </a:r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AI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판별 웹서비스</a:t>
            </a:r>
          </a:p>
        </p:txBody>
      </p:sp>
    </p:spTree>
    <p:extLst>
      <p:ext uri="{BB962C8B-B14F-4D97-AF65-F5344CB8AC3E}">
        <p14:creationId xmlns:p14="http://schemas.microsoft.com/office/powerpoint/2010/main" val="174920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AFAD44-1AE0-43FD-B55B-89A066FBC8AB}"/>
              </a:ext>
            </a:extLst>
          </p:cNvPr>
          <p:cNvSpPr txBox="1"/>
          <p:nvPr/>
        </p:nvSpPr>
        <p:spPr>
          <a:xfrm>
            <a:off x="533400" y="355600"/>
            <a:ext cx="10795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6. </a:t>
            </a:r>
            <a:r>
              <a:rPr lang="ko-KR" altLang="en-US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비용 없는 챗봇 기반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9FC5B-CB83-45AC-96A9-9AD04AE58D89}"/>
              </a:ext>
            </a:extLst>
          </p:cNvPr>
          <p:cNvSpPr txBox="1"/>
          <p:nvPr/>
        </p:nvSpPr>
        <p:spPr>
          <a:xfrm>
            <a:off x="558800" y="914400"/>
            <a:ext cx="1079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외부 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LLM</a:t>
            </a:r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은 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AWS </a:t>
            </a:r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운영 환경 안정화 이후 최종 연동합니다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787878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8166647-D244-42DC-8F5C-9601C671421C}"/>
              </a:ext>
            </a:extLst>
          </p:cNvPr>
          <p:cNvSpPr/>
          <p:nvPr/>
        </p:nvSpPr>
        <p:spPr>
          <a:xfrm>
            <a:off x="5334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F9FD830-F048-4B23-8F13-ABFCD731CD1D}"/>
              </a:ext>
            </a:extLst>
          </p:cNvPr>
          <p:cNvSpPr/>
          <p:nvPr/>
        </p:nvSpPr>
        <p:spPr>
          <a:xfrm>
            <a:off x="533400" y="1498600"/>
            <a:ext cx="88900" cy="2133600"/>
          </a:xfrm>
          <a:prstGeom prst="rect">
            <a:avLst/>
          </a:prstGeom>
          <a:solidFill>
            <a:srgbClr val="73836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D9F793-4C54-4EA0-97F2-83B236E5833A}"/>
              </a:ext>
            </a:extLst>
          </p:cNvPr>
          <p:cNvSpPr txBox="1"/>
          <p:nvPr/>
        </p:nvSpPr>
        <p:spPr>
          <a:xfrm>
            <a:off x="7620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현재 제공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ACEFED-2F7C-4CD8-B477-2DFEEF3D042B}"/>
              </a:ext>
            </a:extLst>
          </p:cNvPr>
          <p:cNvSpPr txBox="1"/>
          <p:nvPr/>
        </p:nvSpPr>
        <p:spPr>
          <a:xfrm>
            <a:off x="7620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서비스 사용법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confidence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의미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MySQL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검사 집계 안내를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FastAPI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로 처리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18DB068-3230-4840-9CB8-F4262A978521}"/>
              </a:ext>
            </a:extLst>
          </p:cNvPr>
          <p:cNvSpPr/>
          <p:nvPr/>
        </p:nvSpPr>
        <p:spPr>
          <a:xfrm>
            <a:off x="40640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E29BFDB-F7BA-4710-8C05-54BED2ADD9AE}"/>
              </a:ext>
            </a:extLst>
          </p:cNvPr>
          <p:cNvSpPr/>
          <p:nvPr/>
        </p:nvSpPr>
        <p:spPr>
          <a:xfrm>
            <a:off x="4064000" y="1498600"/>
            <a:ext cx="88900" cy="2133600"/>
          </a:xfrm>
          <a:prstGeom prst="rect">
            <a:avLst/>
          </a:prstGeom>
          <a:solidFill>
            <a:srgbClr val="4F8C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277AF2-A751-4548-959B-8F17BCEDD417}"/>
              </a:ext>
            </a:extLst>
          </p:cNvPr>
          <p:cNvSpPr txBox="1"/>
          <p:nvPr/>
        </p:nvSpPr>
        <p:spPr>
          <a:xfrm>
            <a:off x="42926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저장 구조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2CB1E8-A955-45A8-8171-C95506BBADEF}"/>
              </a:ext>
            </a:extLst>
          </p:cNvPr>
          <p:cNvSpPr txBox="1"/>
          <p:nvPr/>
        </p:nvSpPr>
        <p:spPr>
          <a:xfrm>
            <a:off x="4292600" y="2108200"/>
            <a:ext cx="2921000" cy="6001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chat_sessions, chat_messages, knowledge_documents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테이블과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Alembic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마이그레이션 준비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BAEF3AF-15C3-4CED-A843-D855402FEC2A}"/>
              </a:ext>
            </a:extLst>
          </p:cNvPr>
          <p:cNvSpPr/>
          <p:nvPr/>
        </p:nvSpPr>
        <p:spPr>
          <a:xfrm>
            <a:off x="75946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843485-9AB1-4F38-8002-680BFC412B68}"/>
              </a:ext>
            </a:extLst>
          </p:cNvPr>
          <p:cNvSpPr/>
          <p:nvPr/>
        </p:nvSpPr>
        <p:spPr>
          <a:xfrm>
            <a:off x="7594600" y="1498600"/>
            <a:ext cx="88900" cy="2133600"/>
          </a:xfrm>
          <a:prstGeom prst="rect">
            <a:avLst/>
          </a:prstGeom>
          <a:solidFill>
            <a:srgbClr val="5966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E929B3-1D29-4976-AC1D-EFCA43C9CBF5}"/>
              </a:ext>
            </a:extLst>
          </p:cNvPr>
          <p:cNvSpPr txBox="1"/>
          <p:nvPr/>
        </p:nvSpPr>
        <p:spPr>
          <a:xfrm>
            <a:off x="78232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보류 항목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DA39E4-A66D-4406-B0AF-DC0726808C05}"/>
              </a:ext>
            </a:extLst>
          </p:cNvPr>
          <p:cNvSpPr txBox="1"/>
          <p:nvPr/>
        </p:nvSpPr>
        <p:spPr>
          <a:xfrm>
            <a:off x="78232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외부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LLM·RAG·API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키 사용은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AWS Secrets Manager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구성 이후 진행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FF0F3B-9894-4429-9DFA-88E5E9457055}"/>
              </a:ext>
            </a:extLst>
          </p:cNvPr>
          <p:cNvSpPr txBox="1"/>
          <p:nvPr/>
        </p:nvSpPr>
        <p:spPr>
          <a:xfrm>
            <a:off x="533400" y="6350000"/>
            <a:ext cx="635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Farm Doctor ·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사과 과수화상병 </a:t>
            </a:r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AI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판별 웹서비스</a:t>
            </a:r>
          </a:p>
        </p:txBody>
      </p:sp>
    </p:spTree>
    <p:extLst>
      <p:ext uri="{BB962C8B-B14F-4D97-AF65-F5344CB8AC3E}">
        <p14:creationId xmlns:p14="http://schemas.microsoft.com/office/powerpoint/2010/main" val="2447750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967B2E-D2D2-4811-9D4A-A96BEB0885E0}"/>
              </a:ext>
            </a:extLst>
          </p:cNvPr>
          <p:cNvSpPr txBox="1"/>
          <p:nvPr/>
        </p:nvSpPr>
        <p:spPr>
          <a:xfrm>
            <a:off x="533400" y="355600"/>
            <a:ext cx="10795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7. AWS </a:t>
            </a:r>
            <a:r>
              <a:rPr lang="ko-KR" altLang="en-US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목표 아키텍처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FCD8C9-B802-4353-8C11-89FA9A15CE10}"/>
              </a:ext>
            </a:extLst>
          </p:cNvPr>
          <p:cNvSpPr txBox="1"/>
          <p:nvPr/>
        </p:nvSpPr>
        <p:spPr>
          <a:xfrm>
            <a:off x="558800" y="914400"/>
            <a:ext cx="1079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데이터와 컨테이너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비밀 값을 분리해 운영 안정성을 확보합니다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787878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E0FC077-6F72-47BB-98B3-D6586F778EB7}"/>
              </a:ext>
            </a:extLst>
          </p:cNvPr>
          <p:cNvSpPr/>
          <p:nvPr/>
        </p:nvSpPr>
        <p:spPr>
          <a:xfrm>
            <a:off x="533400" y="1498600"/>
            <a:ext cx="5080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E3C041-27BD-4AA5-91DD-2A088589DE81}"/>
              </a:ext>
            </a:extLst>
          </p:cNvPr>
          <p:cNvSpPr/>
          <p:nvPr/>
        </p:nvSpPr>
        <p:spPr>
          <a:xfrm>
            <a:off x="533400" y="1498600"/>
            <a:ext cx="88900" cy="2133600"/>
          </a:xfrm>
          <a:prstGeom prst="rect">
            <a:avLst/>
          </a:prstGeom>
          <a:solidFill>
            <a:srgbClr val="73836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814437-D6E6-4C9D-8B2F-B83AD031266F}"/>
              </a:ext>
            </a:extLst>
          </p:cNvPr>
          <p:cNvSpPr txBox="1"/>
          <p:nvPr/>
        </p:nvSpPr>
        <p:spPr>
          <a:xfrm>
            <a:off x="762000" y="1676400"/>
            <a:ext cx="4699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ECR + ECS Fargate</a:t>
            </a:r>
            <a:endParaRPr lang="ko-KR" altLang="en-US" sz="1700" b="1">
              <a:solidFill>
                <a:srgbClr val="5B434A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108F27-BF86-4750-8CD4-84F7BD79D2FB}"/>
              </a:ext>
            </a:extLst>
          </p:cNvPr>
          <p:cNvSpPr txBox="1"/>
          <p:nvPr/>
        </p:nvSpPr>
        <p:spPr>
          <a:xfrm>
            <a:off x="762000" y="21082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프런트엔드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백엔드 이미지를 배포하고 롤링 업데이트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09F5B5E-8679-4EE2-8F9F-0F9557FB8FB5}"/>
              </a:ext>
            </a:extLst>
          </p:cNvPr>
          <p:cNvSpPr/>
          <p:nvPr/>
        </p:nvSpPr>
        <p:spPr>
          <a:xfrm>
            <a:off x="5842000" y="1498600"/>
            <a:ext cx="5080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A797D4-C366-43F1-BEEA-4FFAF87FF895}"/>
              </a:ext>
            </a:extLst>
          </p:cNvPr>
          <p:cNvSpPr/>
          <p:nvPr/>
        </p:nvSpPr>
        <p:spPr>
          <a:xfrm>
            <a:off x="5842000" y="1498600"/>
            <a:ext cx="88900" cy="2133600"/>
          </a:xfrm>
          <a:prstGeom prst="rect">
            <a:avLst/>
          </a:prstGeom>
          <a:solidFill>
            <a:srgbClr val="4F8C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E54543-36B6-45C5-B7A9-77355990EAFB}"/>
              </a:ext>
            </a:extLst>
          </p:cNvPr>
          <p:cNvSpPr txBox="1"/>
          <p:nvPr/>
        </p:nvSpPr>
        <p:spPr>
          <a:xfrm>
            <a:off x="6070600" y="1676400"/>
            <a:ext cx="4699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RDS MySQL + S3</a:t>
            </a:r>
            <a:endParaRPr lang="ko-KR" altLang="en-US" sz="1700" b="1">
              <a:solidFill>
                <a:srgbClr val="5B434A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4EEBD7-D015-47B9-8B22-84DF51FB387C}"/>
              </a:ext>
            </a:extLst>
          </p:cNvPr>
          <p:cNvSpPr txBox="1"/>
          <p:nvPr/>
        </p:nvSpPr>
        <p:spPr>
          <a:xfrm>
            <a:off x="6070600" y="21082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검사 데이터는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RDS,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이미지와 모델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문서는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S3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기반으로 운영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F3BD38F-C6F5-488E-B6A7-8E753F2C813B}"/>
              </a:ext>
            </a:extLst>
          </p:cNvPr>
          <p:cNvSpPr/>
          <p:nvPr/>
        </p:nvSpPr>
        <p:spPr>
          <a:xfrm>
            <a:off x="533400" y="3911600"/>
            <a:ext cx="5080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7D92358-C509-4C5A-B9B2-0F54B03008D9}"/>
              </a:ext>
            </a:extLst>
          </p:cNvPr>
          <p:cNvSpPr/>
          <p:nvPr/>
        </p:nvSpPr>
        <p:spPr>
          <a:xfrm>
            <a:off x="533400" y="3911600"/>
            <a:ext cx="88900" cy="2133600"/>
          </a:xfrm>
          <a:prstGeom prst="rect">
            <a:avLst/>
          </a:prstGeom>
          <a:solidFill>
            <a:srgbClr val="5966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5931C2-30F3-460B-B10A-63F8E44ACADF}"/>
              </a:ext>
            </a:extLst>
          </p:cNvPr>
          <p:cNvSpPr txBox="1"/>
          <p:nvPr/>
        </p:nvSpPr>
        <p:spPr>
          <a:xfrm>
            <a:off x="762000" y="4089400"/>
            <a:ext cx="4699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CloudFront + ALB</a:t>
            </a:r>
            <a:endParaRPr lang="ko-KR" altLang="en-US" sz="1700" b="1">
              <a:solidFill>
                <a:srgbClr val="5B434A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B4642B-9283-4947-A924-69C8632AF0B8}"/>
              </a:ext>
            </a:extLst>
          </p:cNvPr>
          <p:cNvSpPr txBox="1"/>
          <p:nvPr/>
        </p:nvSpPr>
        <p:spPr>
          <a:xfrm>
            <a:off x="762000" y="45212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정적 화면 배포와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API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트래픽 분리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HTTPS·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도메인 확장 준비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B899414-C8B7-4BA6-B05A-E0134F328064}"/>
              </a:ext>
            </a:extLst>
          </p:cNvPr>
          <p:cNvSpPr/>
          <p:nvPr/>
        </p:nvSpPr>
        <p:spPr>
          <a:xfrm>
            <a:off x="5842000" y="3911600"/>
            <a:ext cx="5080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9D371E2-1FE3-4615-90BA-2CE7C95F52EB}"/>
              </a:ext>
            </a:extLst>
          </p:cNvPr>
          <p:cNvSpPr/>
          <p:nvPr/>
        </p:nvSpPr>
        <p:spPr>
          <a:xfrm>
            <a:off x="5842000" y="3911600"/>
            <a:ext cx="88900" cy="2133600"/>
          </a:xfrm>
          <a:prstGeom prst="rect">
            <a:avLst/>
          </a:prstGeom>
          <a:solidFill>
            <a:srgbClr val="73836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BC04FC-6462-4785-9875-5E42AE5E7971}"/>
              </a:ext>
            </a:extLst>
          </p:cNvPr>
          <p:cNvSpPr txBox="1"/>
          <p:nvPr/>
        </p:nvSpPr>
        <p:spPr>
          <a:xfrm>
            <a:off x="6070600" y="4089400"/>
            <a:ext cx="4699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Secrets Manager</a:t>
            </a:r>
            <a:endParaRPr lang="ko-KR" altLang="en-US" sz="1700" b="1">
              <a:solidFill>
                <a:srgbClr val="5B434A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11CA85-A717-4637-AC95-EB75D4D8B899}"/>
              </a:ext>
            </a:extLst>
          </p:cNvPr>
          <p:cNvSpPr txBox="1"/>
          <p:nvPr/>
        </p:nvSpPr>
        <p:spPr>
          <a:xfrm>
            <a:off x="6070600" y="45212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DB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비밀번호와 향후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LLM API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키를 코드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·Git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에서 분리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315D8C-C824-408B-9127-B4B80585D4ED}"/>
              </a:ext>
            </a:extLst>
          </p:cNvPr>
          <p:cNvSpPr txBox="1"/>
          <p:nvPr/>
        </p:nvSpPr>
        <p:spPr>
          <a:xfrm>
            <a:off x="533400" y="6350000"/>
            <a:ext cx="635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Farm Doctor ·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사과 과수화상병 </a:t>
            </a:r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AI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판별 웹서비스</a:t>
            </a:r>
          </a:p>
        </p:txBody>
      </p:sp>
    </p:spTree>
    <p:extLst>
      <p:ext uri="{BB962C8B-B14F-4D97-AF65-F5344CB8AC3E}">
        <p14:creationId xmlns:p14="http://schemas.microsoft.com/office/powerpoint/2010/main" val="1673425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ADFE7C-3A02-480A-BA84-1052D8DA413F}"/>
              </a:ext>
            </a:extLst>
          </p:cNvPr>
          <p:cNvSpPr txBox="1"/>
          <p:nvPr/>
        </p:nvSpPr>
        <p:spPr>
          <a:xfrm>
            <a:off x="533400" y="355600"/>
            <a:ext cx="10795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8. Git </a:t>
            </a:r>
            <a:r>
              <a:rPr lang="ko-KR" altLang="en-US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기반 수정</a:t>
            </a:r>
            <a:r>
              <a:rPr lang="en-US" altLang="ko-KR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재배포 흐름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22624-0D0B-4531-B6B0-816276E3EA86}"/>
              </a:ext>
            </a:extLst>
          </p:cNvPr>
          <p:cNvSpPr txBox="1"/>
          <p:nvPr/>
        </p:nvSpPr>
        <p:spPr>
          <a:xfrm>
            <a:off x="558800" y="914400"/>
            <a:ext cx="1079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AWS </a:t>
            </a:r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배포 후에도 기능 수정은 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Git</a:t>
            </a:r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을 중심으로 반복합니다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787878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3076385-DD72-4135-826A-82DD906A68A6}"/>
              </a:ext>
            </a:extLst>
          </p:cNvPr>
          <p:cNvSpPr/>
          <p:nvPr/>
        </p:nvSpPr>
        <p:spPr>
          <a:xfrm>
            <a:off x="5334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BAAAF6-2375-4C05-9F47-BB6A5FC01F38}"/>
              </a:ext>
            </a:extLst>
          </p:cNvPr>
          <p:cNvSpPr/>
          <p:nvPr/>
        </p:nvSpPr>
        <p:spPr>
          <a:xfrm>
            <a:off x="533400" y="1498600"/>
            <a:ext cx="88900" cy="2133600"/>
          </a:xfrm>
          <a:prstGeom prst="rect">
            <a:avLst/>
          </a:prstGeom>
          <a:solidFill>
            <a:srgbClr val="73836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9A0EBF-D75C-467B-BB17-6AD553149B23}"/>
              </a:ext>
            </a:extLst>
          </p:cNvPr>
          <p:cNvSpPr txBox="1"/>
          <p:nvPr/>
        </p:nvSpPr>
        <p:spPr>
          <a:xfrm>
            <a:off x="7620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1. </a:t>
            </a:r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개발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E27895-EC93-4999-9F3B-8A5F6C46C7F9}"/>
              </a:ext>
            </a:extLst>
          </p:cNvPr>
          <p:cNvSpPr txBox="1"/>
          <p:nvPr/>
        </p:nvSpPr>
        <p:spPr>
          <a:xfrm>
            <a:off x="7620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로컬에서 수정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테스트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·Docker Compose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검증 후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Git commit/push</a:t>
            </a:r>
            <a:endParaRPr lang="ko-KR" altLang="en-US" sz="1100">
              <a:solidFill>
                <a:srgbClr val="666666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44760DE-47E4-4BC9-A8C5-DF1730CA5150}"/>
              </a:ext>
            </a:extLst>
          </p:cNvPr>
          <p:cNvSpPr/>
          <p:nvPr/>
        </p:nvSpPr>
        <p:spPr>
          <a:xfrm>
            <a:off x="40640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113010-9359-4113-BE7E-6C21300A717D}"/>
              </a:ext>
            </a:extLst>
          </p:cNvPr>
          <p:cNvSpPr/>
          <p:nvPr/>
        </p:nvSpPr>
        <p:spPr>
          <a:xfrm>
            <a:off x="4064000" y="1498600"/>
            <a:ext cx="88900" cy="2133600"/>
          </a:xfrm>
          <a:prstGeom prst="rect">
            <a:avLst/>
          </a:prstGeom>
          <a:solidFill>
            <a:srgbClr val="4F8C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BF0CDA-3019-490D-AAF1-FEDD21B70A30}"/>
              </a:ext>
            </a:extLst>
          </p:cNvPr>
          <p:cNvSpPr txBox="1"/>
          <p:nvPr/>
        </p:nvSpPr>
        <p:spPr>
          <a:xfrm>
            <a:off x="42926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2. </a:t>
            </a:r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빌드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37DB26-26AC-4FEE-A61A-107F3C4E5498}"/>
              </a:ext>
            </a:extLst>
          </p:cNvPr>
          <p:cNvSpPr txBox="1"/>
          <p:nvPr/>
        </p:nvSpPr>
        <p:spPr>
          <a:xfrm>
            <a:off x="42926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GitHub Actions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또는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CodePipeline/CodeBuild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가 이미지 생성 후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ECR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업로드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B409A36-1707-41B8-A9EC-3B11E17874AE}"/>
              </a:ext>
            </a:extLst>
          </p:cNvPr>
          <p:cNvSpPr/>
          <p:nvPr/>
        </p:nvSpPr>
        <p:spPr>
          <a:xfrm>
            <a:off x="75946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03CC69-5A21-458C-B3FC-E9C2A3E99B98}"/>
              </a:ext>
            </a:extLst>
          </p:cNvPr>
          <p:cNvSpPr/>
          <p:nvPr/>
        </p:nvSpPr>
        <p:spPr>
          <a:xfrm>
            <a:off x="7594600" y="1498600"/>
            <a:ext cx="88900" cy="2133600"/>
          </a:xfrm>
          <a:prstGeom prst="rect">
            <a:avLst/>
          </a:prstGeom>
          <a:solidFill>
            <a:srgbClr val="5966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7D11E2-EF55-4852-8BD9-B8AC38B0816F}"/>
              </a:ext>
            </a:extLst>
          </p:cNvPr>
          <p:cNvSpPr txBox="1"/>
          <p:nvPr/>
        </p:nvSpPr>
        <p:spPr>
          <a:xfrm>
            <a:off x="78232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3. </a:t>
            </a:r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배포</a:t>
            </a:r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롤백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4FA011-DBE7-4BB8-ACDC-0F16D8884BB3}"/>
              </a:ext>
            </a:extLst>
          </p:cNvPr>
          <p:cNvSpPr txBox="1"/>
          <p:nvPr/>
        </p:nvSpPr>
        <p:spPr>
          <a:xfrm>
            <a:off x="78232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ECS Task Definition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을 새 이미지 태그로 교체하고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문제 시 이전 태그로 롤백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AE1589-71DB-4BBD-8538-B18F5809FF60}"/>
              </a:ext>
            </a:extLst>
          </p:cNvPr>
          <p:cNvSpPr txBox="1"/>
          <p:nvPr/>
        </p:nvSpPr>
        <p:spPr>
          <a:xfrm>
            <a:off x="533400" y="6350000"/>
            <a:ext cx="635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Farm Doctor ·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사과 과수화상병 </a:t>
            </a:r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AI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판별 웹서비스</a:t>
            </a:r>
          </a:p>
        </p:txBody>
      </p:sp>
    </p:spTree>
    <p:extLst>
      <p:ext uri="{BB962C8B-B14F-4D97-AF65-F5344CB8AC3E}">
        <p14:creationId xmlns:p14="http://schemas.microsoft.com/office/powerpoint/2010/main" val="987709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8CB933-2A0D-4849-9D04-2D15C8C4FFDD}"/>
              </a:ext>
            </a:extLst>
          </p:cNvPr>
          <p:cNvSpPr txBox="1"/>
          <p:nvPr/>
        </p:nvSpPr>
        <p:spPr>
          <a:xfrm>
            <a:off x="533400" y="355600"/>
            <a:ext cx="10795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9. Codex </a:t>
            </a:r>
            <a:r>
              <a:rPr lang="ko-KR" altLang="en-US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요청 시 주의사항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5ABED-2FD2-43DE-BB9D-0C6A3528F03E}"/>
              </a:ext>
            </a:extLst>
          </p:cNvPr>
          <p:cNvSpPr txBox="1"/>
          <p:nvPr/>
        </p:nvSpPr>
        <p:spPr>
          <a:xfrm>
            <a:off x="558800" y="914400"/>
            <a:ext cx="1079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작업 범위와 검증 기준을 명확히 하면 안전하고 빠르게 협업할 수 있습니다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787878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0F25EC4-8F6E-4117-967C-C681DD5B4F4B}"/>
              </a:ext>
            </a:extLst>
          </p:cNvPr>
          <p:cNvSpPr/>
          <p:nvPr/>
        </p:nvSpPr>
        <p:spPr>
          <a:xfrm>
            <a:off x="533400" y="1498600"/>
            <a:ext cx="5080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A104C3-415A-4C50-BF3F-78C31DE61EC4}"/>
              </a:ext>
            </a:extLst>
          </p:cNvPr>
          <p:cNvSpPr/>
          <p:nvPr/>
        </p:nvSpPr>
        <p:spPr>
          <a:xfrm>
            <a:off x="533400" y="1498600"/>
            <a:ext cx="88900" cy="2133600"/>
          </a:xfrm>
          <a:prstGeom prst="rect">
            <a:avLst/>
          </a:prstGeom>
          <a:solidFill>
            <a:srgbClr val="73836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2642F2-29C1-4C1E-A241-A1E9ADE7D59E}"/>
              </a:ext>
            </a:extLst>
          </p:cNvPr>
          <p:cNvSpPr txBox="1"/>
          <p:nvPr/>
        </p:nvSpPr>
        <p:spPr>
          <a:xfrm>
            <a:off x="762000" y="1676400"/>
            <a:ext cx="4699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명확한 범위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CE540E-6E93-40FB-89EE-EFC2BEDC8FE2}"/>
              </a:ext>
            </a:extLst>
          </p:cNvPr>
          <p:cNvSpPr txBox="1"/>
          <p:nvPr/>
        </p:nvSpPr>
        <p:spPr>
          <a:xfrm>
            <a:off x="762000" y="2108200"/>
            <a:ext cx="4699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"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리포트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UI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만 수정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", "DB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삭제 금지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", "YOLO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추론 로직 변경 금지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"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처럼 범위를 명시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321E25A-D8E9-4BEF-B1AF-49ADFA0A6D84}"/>
              </a:ext>
            </a:extLst>
          </p:cNvPr>
          <p:cNvSpPr/>
          <p:nvPr/>
        </p:nvSpPr>
        <p:spPr>
          <a:xfrm>
            <a:off x="5842000" y="1498600"/>
            <a:ext cx="5080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135BC2-7DB5-487F-AE6C-32EB2E360BC0}"/>
              </a:ext>
            </a:extLst>
          </p:cNvPr>
          <p:cNvSpPr/>
          <p:nvPr/>
        </p:nvSpPr>
        <p:spPr>
          <a:xfrm>
            <a:off x="5842000" y="1498600"/>
            <a:ext cx="88900" cy="2133600"/>
          </a:xfrm>
          <a:prstGeom prst="rect">
            <a:avLst/>
          </a:prstGeom>
          <a:solidFill>
            <a:srgbClr val="4F8C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796BA-7689-4D80-8C95-42ED64CA0872}"/>
              </a:ext>
            </a:extLst>
          </p:cNvPr>
          <p:cNvSpPr txBox="1"/>
          <p:nvPr/>
        </p:nvSpPr>
        <p:spPr>
          <a:xfrm>
            <a:off x="6070600" y="1676400"/>
            <a:ext cx="4699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사실 검증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52D353-D9AB-43F0-A880-A4139CA779F5}"/>
              </a:ext>
            </a:extLst>
          </p:cNvPr>
          <p:cNvSpPr txBox="1"/>
          <p:nvPr/>
        </p:nvSpPr>
        <p:spPr>
          <a:xfrm>
            <a:off x="6070600" y="21082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"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실제 테스트한 결과만 성공 처리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", "API/DB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응답값을 함께 보고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"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를 요청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1B9D327-498E-4302-830B-5DEB2547AEF6}"/>
              </a:ext>
            </a:extLst>
          </p:cNvPr>
          <p:cNvSpPr/>
          <p:nvPr/>
        </p:nvSpPr>
        <p:spPr>
          <a:xfrm>
            <a:off x="533400" y="3911600"/>
            <a:ext cx="5080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DD1862B-B10F-4179-810E-BED5ACEC7147}"/>
              </a:ext>
            </a:extLst>
          </p:cNvPr>
          <p:cNvSpPr/>
          <p:nvPr/>
        </p:nvSpPr>
        <p:spPr>
          <a:xfrm>
            <a:off x="533400" y="3911600"/>
            <a:ext cx="88900" cy="2133600"/>
          </a:xfrm>
          <a:prstGeom prst="rect">
            <a:avLst/>
          </a:prstGeom>
          <a:solidFill>
            <a:srgbClr val="5966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D0FB22-3E3F-4809-95BE-EA5847F103A1}"/>
              </a:ext>
            </a:extLst>
          </p:cNvPr>
          <p:cNvSpPr txBox="1"/>
          <p:nvPr/>
        </p:nvSpPr>
        <p:spPr>
          <a:xfrm>
            <a:off x="762000" y="4089400"/>
            <a:ext cx="4699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민감정보 보호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7599E0-BEE5-4C87-99F0-73D88D6448A4}"/>
              </a:ext>
            </a:extLst>
          </p:cNvPr>
          <p:cNvSpPr txBox="1"/>
          <p:nvPr/>
        </p:nvSpPr>
        <p:spPr>
          <a:xfrm>
            <a:off x="762000" y="45212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API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키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·DB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비밀번호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·AWS Access Key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를 채팅이나 코드에 직접 제공하지 않기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FF99E85-7842-46E4-8C9D-D74B966464A6}"/>
              </a:ext>
            </a:extLst>
          </p:cNvPr>
          <p:cNvSpPr/>
          <p:nvPr/>
        </p:nvSpPr>
        <p:spPr>
          <a:xfrm>
            <a:off x="5842000" y="3911600"/>
            <a:ext cx="5080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6FE8454-C955-4DB4-B594-A792DFC3E8F1}"/>
              </a:ext>
            </a:extLst>
          </p:cNvPr>
          <p:cNvSpPr/>
          <p:nvPr/>
        </p:nvSpPr>
        <p:spPr>
          <a:xfrm>
            <a:off x="5842000" y="3911600"/>
            <a:ext cx="88900" cy="2133600"/>
          </a:xfrm>
          <a:prstGeom prst="rect">
            <a:avLst/>
          </a:prstGeom>
          <a:solidFill>
            <a:srgbClr val="73836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558609-BCC7-4008-97BA-F34FC80D837F}"/>
              </a:ext>
            </a:extLst>
          </p:cNvPr>
          <p:cNvSpPr txBox="1"/>
          <p:nvPr/>
        </p:nvSpPr>
        <p:spPr>
          <a:xfrm>
            <a:off x="6070600" y="4089400"/>
            <a:ext cx="4699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변경 관리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648545-08B3-4392-8271-E05BBAA81E83}"/>
              </a:ext>
            </a:extLst>
          </p:cNvPr>
          <p:cNvSpPr txBox="1"/>
          <p:nvPr/>
        </p:nvSpPr>
        <p:spPr>
          <a:xfrm>
            <a:off x="6070600" y="4521200"/>
            <a:ext cx="4699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작업 전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Git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상태 확인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단계별 파일 목록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실행법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롤백 방법을 요청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6A3E2F-9A28-4D79-9ECE-8C4BF0475E2E}"/>
              </a:ext>
            </a:extLst>
          </p:cNvPr>
          <p:cNvSpPr txBox="1"/>
          <p:nvPr/>
        </p:nvSpPr>
        <p:spPr>
          <a:xfrm>
            <a:off x="533400" y="6350000"/>
            <a:ext cx="635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Farm Doctor ·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사과 과수화상병 </a:t>
            </a:r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AI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판별 웹서비스</a:t>
            </a:r>
          </a:p>
        </p:txBody>
      </p:sp>
    </p:spTree>
    <p:extLst>
      <p:ext uri="{BB962C8B-B14F-4D97-AF65-F5344CB8AC3E}">
        <p14:creationId xmlns:p14="http://schemas.microsoft.com/office/powerpoint/2010/main" val="2274699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CBD920-019D-4E48-A3F5-B5EFFD9C8BBD}"/>
              </a:ext>
            </a:extLst>
          </p:cNvPr>
          <p:cNvSpPr txBox="1"/>
          <p:nvPr/>
        </p:nvSpPr>
        <p:spPr>
          <a:xfrm>
            <a:off x="533400" y="355600"/>
            <a:ext cx="10795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10. </a:t>
            </a:r>
            <a:r>
              <a:rPr lang="ko-KR" altLang="en-US" sz="28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다음 개발 체크리스트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E5D3D-FB07-4BE4-8694-7E5E3B969188}"/>
              </a:ext>
            </a:extLst>
          </p:cNvPr>
          <p:cNvSpPr txBox="1"/>
          <p:nvPr/>
        </p:nvSpPr>
        <p:spPr>
          <a:xfrm>
            <a:off x="558800" y="914400"/>
            <a:ext cx="10795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AWS </a:t>
            </a:r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이전에 로컬 품질을 고정하고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이후 인프라와 외부 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AI</a:t>
            </a:r>
            <a:r>
              <a:rPr lang="ko-KR" altLang="en-US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를 순차 적용합니다</a:t>
            </a:r>
            <a:r>
              <a:rPr lang="en-US" altLang="ko-KR" sz="1100">
                <a:solidFill>
                  <a:srgbClr val="787878"/>
                </a:solidFill>
                <a:latin typeface="Aptos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787878"/>
              </a:solidFill>
              <a:latin typeface="Aptos"/>
              <a:ea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2E34983-ECB9-4D67-8DB6-132547A7571D}"/>
              </a:ext>
            </a:extLst>
          </p:cNvPr>
          <p:cNvSpPr/>
          <p:nvPr/>
        </p:nvSpPr>
        <p:spPr>
          <a:xfrm>
            <a:off x="5334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AE5D57-84EE-48BA-9E92-1596DB4808E0}"/>
              </a:ext>
            </a:extLst>
          </p:cNvPr>
          <p:cNvSpPr/>
          <p:nvPr/>
        </p:nvSpPr>
        <p:spPr>
          <a:xfrm>
            <a:off x="533400" y="1498600"/>
            <a:ext cx="88900" cy="2133600"/>
          </a:xfrm>
          <a:prstGeom prst="rect">
            <a:avLst/>
          </a:prstGeom>
          <a:solidFill>
            <a:srgbClr val="73836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CDC7A6-C798-4A25-B050-0EA2E45E73CD}"/>
              </a:ext>
            </a:extLst>
          </p:cNvPr>
          <p:cNvSpPr txBox="1"/>
          <p:nvPr/>
        </p:nvSpPr>
        <p:spPr>
          <a:xfrm>
            <a:off x="7620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AWS </a:t>
            </a:r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AB31A9-066F-45F2-9468-E42930C973D4}"/>
              </a:ext>
            </a:extLst>
          </p:cNvPr>
          <p:cNvSpPr txBox="1"/>
          <p:nvPr/>
        </p:nvSpPr>
        <p:spPr>
          <a:xfrm>
            <a:off x="7620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환경변수 정리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Alembic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최신화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Docker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이미지 경량화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회귀 테스트 정리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154785D-533E-494E-9C34-5127CF8C61D8}"/>
              </a:ext>
            </a:extLst>
          </p:cNvPr>
          <p:cNvSpPr/>
          <p:nvPr/>
        </p:nvSpPr>
        <p:spPr>
          <a:xfrm>
            <a:off x="40640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BB6369D-7AAC-435A-88D7-3241EA1D8E97}"/>
              </a:ext>
            </a:extLst>
          </p:cNvPr>
          <p:cNvSpPr/>
          <p:nvPr/>
        </p:nvSpPr>
        <p:spPr>
          <a:xfrm>
            <a:off x="4064000" y="1498600"/>
            <a:ext cx="88900" cy="2133600"/>
          </a:xfrm>
          <a:prstGeom prst="rect">
            <a:avLst/>
          </a:prstGeom>
          <a:solidFill>
            <a:srgbClr val="4F8C2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1FBC60-E354-472A-B386-7CFAE520A1E7}"/>
              </a:ext>
            </a:extLst>
          </p:cNvPr>
          <p:cNvSpPr txBox="1"/>
          <p:nvPr/>
        </p:nvSpPr>
        <p:spPr>
          <a:xfrm>
            <a:off x="42926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AWS </a:t>
            </a:r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구축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FF2D90-BAAD-4E00-9710-E29FAB7E0C6B}"/>
              </a:ext>
            </a:extLst>
          </p:cNvPr>
          <p:cNvSpPr txBox="1"/>
          <p:nvPr/>
        </p:nvSpPr>
        <p:spPr>
          <a:xfrm>
            <a:off x="42926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VPC·RDS·S3·ECR·ECS·ALB·CloudFront·CloudWatch·Secrets Manager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구성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62FFB32-8EB3-4937-8426-787666749F72}"/>
              </a:ext>
            </a:extLst>
          </p:cNvPr>
          <p:cNvSpPr/>
          <p:nvPr/>
        </p:nvSpPr>
        <p:spPr>
          <a:xfrm>
            <a:off x="7594600" y="1498600"/>
            <a:ext cx="3302000" cy="2133600"/>
          </a:xfrm>
          <a:prstGeom prst="roundRect">
            <a:avLst/>
          </a:prstGeom>
          <a:solidFill>
            <a:srgbClr val="F5F8F8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732276-E4EF-4970-9A02-4C5FB33F81AA}"/>
              </a:ext>
            </a:extLst>
          </p:cNvPr>
          <p:cNvSpPr/>
          <p:nvPr/>
        </p:nvSpPr>
        <p:spPr>
          <a:xfrm>
            <a:off x="7594600" y="1498600"/>
            <a:ext cx="88900" cy="2133600"/>
          </a:xfrm>
          <a:prstGeom prst="rect">
            <a:avLst/>
          </a:prstGeom>
          <a:solidFill>
            <a:srgbClr val="5966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5F3862-BD10-401C-952A-052B226E0036}"/>
              </a:ext>
            </a:extLst>
          </p:cNvPr>
          <p:cNvSpPr txBox="1"/>
          <p:nvPr/>
        </p:nvSpPr>
        <p:spPr>
          <a:xfrm>
            <a:off x="7823200" y="1676400"/>
            <a:ext cx="2921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700" b="1">
                <a:solidFill>
                  <a:srgbClr val="5B434A"/>
                </a:solidFill>
                <a:latin typeface="Aptos"/>
                <a:ea typeface="맑은 고딕" panose="020B0503020000020004" pitchFamily="50" charset="-127"/>
              </a:rPr>
              <a:t>최종 연동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BB373-1F7B-425C-96EB-37720A2ACCBE}"/>
              </a:ext>
            </a:extLst>
          </p:cNvPr>
          <p:cNvSpPr txBox="1"/>
          <p:nvPr/>
        </p:nvSpPr>
        <p:spPr>
          <a:xfrm>
            <a:off x="7823200" y="2108200"/>
            <a:ext cx="2921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공식 문서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RAG,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외부 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LLM,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인증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권한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비용 제한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모니터링</a:t>
            </a:r>
            <a:r>
              <a:rPr lang="en-US" altLang="ko-KR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6666"/>
                </a:solidFill>
                <a:latin typeface="Aptos"/>
                <a:ea typeface="맑은 고딕" panose="020B0503020000020004" pitchFamily="50" charset="-127"/>
              </a:rPr>
              <a:t>백업 정책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E3AD9B-2B4D-4D36-B022-8265E7465EA4}"/>
              </a:ext>
            </a:extLst>
          </p:cNvPr>
          <p:cNvSpPr txBox="1"/>
          <p:nvPr/>
        </p:nvSpPr>
        <p:spPr>
          <a:xfrm>
            <a:off x="533400" y="6350000"/>
            <a:ext cx="635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Farm Doctor ·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사과 과수화상병 </a:t>
            </a:r>
            <a:r>
              <a:rPr lang="en-US" altLang="ko-KR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AI </a:t>
            </a:r>
            <a:r>
              <a:rPr lang="ko-KR" altLang="en-US" sz="900">
                <a:solidFill>
                  <a:srgbClr val="999999"/>
                </a:solidFill>
                <a:latin typeface="Aptos"/>
                <a:ea typeface="맑은 고딕" panose="020B0503020000020004" pitchFamily="50" charset="-127"/>
              </a:rPr>
              <a:t>판별 웹서비스</a:t>
            </a:r>
          </a:p>
        </p:txBody>
      </p:sp>
    </p:spTree>
    <p:extLst>
      <p:ext uri="{BB962C8B-B14F-4D97-AF65-F5344CB8AC3E}">
        <p14:creationId xmlns:p14="http://schemas.microsoft.com/office/powerpoint/2010/main" val="4204641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832</Words>
  <Application>Microsoft Office PowerPoint</Application>
  <PresentationFormat>와이드스크린</PresentationFormat>
  <Paragraphs>100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Aptos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mbc</dc:creator>
  <cp:lastModifiedBy>mbc</cp:lastModifiedBy>
  <cp:revision>1</cp:revision>
  <dcterms:created xsi:type="dcterms:W3CDTF">2026-10-28T02:53:50Z</dcterms:created>
  <dcterms:modified xsi:type="dcterms:W3CDTF">2026-10-28T02:53:50Z</dcterms:modified>
</cp:coreProperties>
</file>